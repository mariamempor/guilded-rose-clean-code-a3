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ooper Hewitt" panose="020B0604020202020204" charset="0"/>
      <p:regular r:id="rId8"/>
    </p:embeddedFont>
    <p:embeddedFont>
      <p:font typeface="Cooper Hewitt Bold" panose="020B0604020202020204" charset="0"/>
      <p:regular r:id="rId9"/>
    </p:embeddedFont>
    <p:embeddedFont>
      <p:font typeface="DM Sans" pitchFamily="2" charset="0"/>
      <p:regular r:id="rId10"/>
    </p:embeddedFont>
    <p:embeddedFont>
      <p:font typeface="DM Sans Bold" panose="020B0604020202020204" charset="0"/>
      <p:regular r:id="rId11"/>
    </p:embeddedFont>
    <p:embeddedFont>
      <p:font typeface="Open Sans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eduarda medeiro porto" userId="1f397b01865c9198" providerId="LiveId" clId="{D0C51669-7045-4074-BCEB-5F5BC9BF67B2}"/>
    <pc:docChg chg="modSld">
      <pc:chgData name="maria eduarda medeiro porto" userId="1f397b01865c9198" providerId="LiveId" clId="{D0C51669-7045-4074-BCEB-5F5BC9BF67B2}" dt="2025-11-26T23:11:11.479" v="6" actId="1076"/>
      <pc:docMkLst>
        <pc:docMk/>
      </pc:docMkLst>
      <pc:sldChg chg="modSp mod">
        <pc:chgData name="maria eduarda medeiro porto" userId="1f397b01865c9198" providerId="LiveId" clId="{D0C51669-7045-4074-BCEB-5F5BC9BF67B2}" dt="2025-11-26T23:09:51.524" v="0" actId="20577"/>
        <pc:sldMkLst>
          <pc:docMk/>
          <pc:sldMk cId="0" sldId="257"/>
        </pc:sldMkLst>
        <pc:spChg chg="mod">
          <ac:chgData name="maria eduarda medeiro porto" userId="1f397b01865c9198" providerId="LiveId" clId="{D0C51669-7045-4074-BCEB-5F5BC9BF67B2}" dt="2025-11-26T23:09:51.524" v="0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maria eduarda medeiro porto" userId="1f397b01865c9198" providerId="LiveId" clId="{D0C51669-7045-4074-BCEB-5F5BC9BF67B2}" dt="2025-11-26T23:10:45.008" v="2" actId="20577"/>
        <pc:sldMkLst>
          <pc:docMk/>
          <pc:sldMk cId="0" sldId="260"/>
        </pc:sldMkLst>
        <pc:spChg chg="mod">
          <ac:chgData name="maria eduarda medeiro porto" userId="1f397b01865c9198" providerId="LiveId" clId="{D0C51669-7045-4074-BCEB-5F5BC9BF67B2}" dt="2025-11-26T23:10:45.008" v="2" actId="20577"/>
          <ac:spMkLst>
            <pc:docMk/>
            <pc:sldMk cId="0" sldId="260"/>
            <ac:spMk id="10" creationId="{00000000-0000-0000-0000-000000000000}"/>
          </ac:spMkLst>
        </pc:spChg>
      </pc:sldChg>
      <pc:sldChg chg="modSp mod">
        <pc:chgData name="maria eduarda medeiro porto" userId="1f397b01865c9198" providerId="LiveId" clId="{D0C51669-7045-4074-BCEB-5F5BC9BF67B2}" dt="2025-11-26T23:11:11.479" v="6" actId="1076"/>
        <pc:sldMkLst>
          <pc:docMk/>
          <pc:sldMk cId="0" sldId="261"/>
        </pc:sldMkLst>
        <pc:spChg chg="mod">
          <ac:chgData name="maria eduarda medeiro porto" userId="1f397b01865c9198" providerId="LiveId" clId="{D0C51669-7045-4074-BCEB-5F5BC9BF67B2}" dt="2025-11-26T23:11:11.479" v="6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aria eduarda medeiro porto" userId="1f397b01865c9198" providerId="LiveId" clId="{D0C51669-7045-4074-BCEB-5F5BC9BF67B2}" dt="2025-11-26T23:10:51.012" v="4" actId="20577"/>
          <ac:spMkLst>
            <pc:docMk/>
            <pc:sldMk cId="0" sldId="261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2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0.svg"/><Relationship Id="rId7" Type="http://schemas.openxmlformats.org/officeDocument/2006/relationships/image" Target="../media/image26.svg"/><Relationship Id="rId12" Type="http://schemas.openxmlformats.org/officeDocument/2006/relationships/image" Target="../media/image3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DB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3004" y="-4150376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1218332" y="2731879"/>
            <a:ext cx="3701593" cy="4723610"/>
          </a:xfrm>
          <a:custGeom>
            <a:avLst/>
            <a:gdLst/>
            <a:ahLst/>
            <a:cxnLst/>
            <a:rect l="l" t="t" r="r" b="b"/>
            <a:pathLst>
              <a:path w="3701593" h="4723610">
                <a:moveTo>
                  <a:pt x="0" y="0"/>
                </a:moveTo>
                <a:lnTo>
                  <a:pt x="3701593" y="0"/>
                </a:lnTo>
                <a:lnTo>
                  <a:pt x="3701593" y="4723610"/>
                </a:lnTo>
                <a:lnTo>
                  <a:pt x="0" y="4723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9456031" y="5686468"/>
            <a:ext cx="3718302" cy="2393234"/>
          </a:xfrm>
          <a:custGeom>
            <a:avLst/>
            <a:gdLst/>
            <a:ahLst/>
            <a:cxnLst/>
            <a:rect l="l" t="t" r="r" b="b"/>
            <a:pathLst>
              <a:path w="3718302" h="2393234">
                <a:moveTo>
                  <a:pt x="0" y="0"/>
                </a:moveTo>
                <a:lnTo>
                  <a:pt x="3718301" y="0"/>
                </a:lnTo>
                <a:lnTo>
                  <a:pt x="3718301" y="2393234"/>
                </a:lnTo>
                <a:lnTo>
                  <a:pt x="0" y="2393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4377104" y="3974852"/>
            <a:ext cx="2882196" cy="3943304"/>
          </a:xfrm>
          <a:custGeom>
            <a:avLst/>
            <a:gdLst/>
            <a:ahLst/>
            <a:cxnLst/>
            <a:rect l="l" t="t" r="r" b="b"/>
            <a:pathLst>
              <a:path w="2882196" h="3943304">
                <a:moveTo>
                  <a:pt x="0" y="0"/>
                </a:moveTo>
                <a:lnTo>
                  <a:pt x="2882196" y="0"/>
                </a:lnTo>
                <a:lnTo>
                  <a:pt x="2882196" y="3943304"/>
                </a:lnTo>
                <a:lnTo>
                  <a:pt x="0" y="39433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585452" y="1411360"/>
            <a:ext cx="9904619" cy="4275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39"/>
              </a:lnSpc>
            </a:pPr>
            <a:r>
              <a:rPr lang="en-US" sz="11313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REFATORAÇÃO DE CÓDIGO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9082" y="5400718"/>
            <a:ext cx="8626948" cy="2248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0"/>
              </a:lnSpc>
            </a:pPr>
            <a:r>
              <a:rPr lang="en-US" sz="5964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BOAS PRÁTICAS DO CLEAN CODE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DB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309696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69" y="0"/>
                </a:lnTo>
                <a:lnTo>
                  <a:pt x="19258069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1369759" y="1634481"/>
            <a:ext cx="5610468" cy="6246472"/>
          </a:xfrm>
          <a:custGeom>
            <a:avLst/>
            <a:gdLst/>
            <a:ahLst/>
            <a:cxnLst/>
            <a:rect l="l" t="t" r="r" b="b"/>
            <a:pathLst>
              <a:path w="5610468" h="6246472">
                <a:moveTo>
                  <a:pt x="0" y="0"/>
                </a:moveTo>
                <a:lnTo>
                  <a:pt x="5610467" y="0"/>
                </a:lnTo>
                <a:lnTo>
                  <a:pt x="5610467" y="6246472"/>
                </a:lnTo>
                <a:lnTo>
                  <a:pt x="0" y="62464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 rot="-1620036">
            <a:off x="354606" y="765327"/>
            <a:ext cx="801236" cy="1251931"/>
          </a:xfrm>
          <a:custGeom>
            <a:avLst/>
            <a:gdLst/>
            <a:ahLst/>
            <a:cxnLst/>
            <a:rect l="l" t="t" r="r" b="b"/>
            <a:pathLst>
              <a:path w="801236" h="1251931">
                <a:moveTo>
                  <a:pt x="0" y="0"/>
                </a:moveTo>
                <a:lnTo>
                  <a:pt x="801236" y="0"/>
                </a:lnTo>
                <a:lnTo>
                  <a:pt x="801236" y="1251931"/>
                </a:lnTo>
                <a:lnTo>
                  <a:pt x="0" y="1251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260026" y="8486409"/>
            <a:ext cx="1248647" cy="771891"/>
          </a:xfrm>
          <a:custGeom>
            <a:avLst/>
            <a:gdLst/>
            <a:ahLst/>
            <a:cxnLst/>
            <a:rect l="l" t="t" r="r" b="b"/>
            <a:pathLst>
              <a:path w="1248647" h="771891">
                <a:moveTo>
                  <a:pt x="0" y="0"/>
                </a:moveTo>
                <a:lnTo>
                  <a:pt x="1248647" y="0"/>
                </a:lnTo>
                <a:lnTo>
                  <a:pt x="1248647" y="771891"/>
                </a:lnTo>
                <a:lnTo>
                  <a:pt x="0" y="7718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1396363" y="1728984"/>
            <a:ext cx="9658249" cy="1056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3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INTRODUÇÃO AO PROJETO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96363" y="3349045"/>
            <a:ext cx="8603458" cy="4419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l">
              <a:lnSpc>
                <a:spcPts val="4999"/>
              </a:lnSpc>
              <a:buFont typeface="Arial"/>
              <a:buChar char="•"/>
            </a:pPr>
            <a:r>
              <a:rPr lang="en-US" sz="2499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Refatoração</a:t>
            </a:r>
            <a:r>
              <a:rPr lang="en-US" sz="24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do </a:t>
            </a:r>
            <a:r>
              <a:rPr lang="en-US" sz="2499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código</a:t>
            </a:r>
            <a:r>
              <a:rPr lang="en-US" sz="24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legado</a:t>
            </a:r>
            <a:r>
              <a:rPr lang="en-US" sz="24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GildedRose</a:t>
            </a:r>
            <a:r>
              <a:rPr lang="en-US" sz="24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-Refactoring-Kata</a:t>
            </a:r>
          </a:p>
          <a:p>
            <a:pPr marL="539746" lvl="1" indent="-269873" algn="l">
              <a:lnSpc>
                <a:spcPts val="4999"/>
              </a:lnSpc>
              <a:buFont typeface="Arial"/>
              <a:buChar char="•"/>
            </a:pPr>
            <a:r>
              <a:rPr lang="en-US" sz="2499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Problema</a:t>
            </a:r>
            <a:r>
              <a:rPr lang="en-US" sz="24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inicial</a:t>
            </a:r>
            <a:r>
              <a:rPr lang="en-US" sz="24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: Código </a:t>
            </a:r>
            <a:r>
              <a:rPr lang="en-US" sz="2499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confuso</a:t>
            </a:r>
            <a:r>
              <a:rPr lang="en-US" sz="24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, com </a:t>
            </a:r>
            <a:r>
              <a:rPr lang="en-US" sz="2499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regras</a:t>
            </a:r>
            <a:r>
              <a:rPr lang="en-US" sz="24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misturadas</a:t>
            </a:r>
            <a:r>
              <a:rPr lang="en-US" sz="24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e </a:t>
            </a:r>
            <a:r>
              <a:rPr lang="en-US" sz="2499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difícil</a:t>
            </a:r>
            <a:r>
              <a:rPr lang="en-US" sz="24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499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entender</a:t>
            </a:r>
            <a:r>
              <a:rPr lang="en-US" sz="24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539746" lvl="1" indent="-269873" algn="l">
              <a:lnSpc>
                <a:spcPts val="4999"/>
              </a:lnSpc>
              <a:buFont typeface="Arial"/>
              <a:buChar char="•"/>
            </a:pPr>
            <a:r>
              <a:rPr lang="en-US" sz="2499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Objetivo</a:t>
            </a:r>
            <a:r>
              <a:rPr lang="en-US" sz="24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2499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aplicar</a:t>
            </a:r>
            <a:r>
              <a:rPr lang="en-US" sz="24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Clean Code, SOLID, DRY, KISS, YAGNI, </a:t>
            </a:r>
            <a:r>
              <a:rPr lang="en-US" sz="2499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melhorar</a:t>
            </a:r>
            <a:r>
              <a:rPr lang="en-US" sz="24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legibilidade</a:t>
            </a:r>
            <a:r>
              <a:rPr lang="en-US" sz="24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e </a:t>
            </a:r>
            <a:r>
              <a:rPr lang="en-US" sz="2499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facilitar</a:t>
            </a:r>
            <a:r>
              <a:rPr lang="en-US" sz="24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99" dirty="0" err="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manutenção</a:t>
            </a:r>
            <a:r>
              <a:rPr lang="en-US" sz="2499" dirty="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>
              <a:lnSpc>
                <a:spcPts val="4999"/>
              </a:lnSpc>
            </a:pPr>
            <a:endParaRPr lang="en-US" sz="2499" dirty="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DB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0188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8608409" y="3389805"/>
            <a:ext cx="8944099" cy="5637764"/>
          </a:xfrm>
          <a:custGeom>
            <a:avLst/>
            <a:gdLst/>
            <a:ahLst/>
            <a:cxnLst/>
            <a:rect l="l" t="t" r="r" b="b"/>
            <a:pathLst>
              <a:path w="8944099" h="5637764">
                <a:moveTo>
                  <a:pt x="0" y="0"/>
                </a:moveTo>
                <a:lnTo>
                  <a:pt x="8944100" y="0"/>
                </a:lnTo>
                <a:lnTo>
                  <a:pt x="8944100" y="5637764"/>
                </a:lnTo>
                <a:lnTo>
                  <a:pt x="0" y="56377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156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448964" y="1613637"/>
            <a:ext cx="7483171" cy="8134337"/>
          </a:xfrm>
          <a:custGeom>
            <a:avLst/>
            <a:gdLst/>
            <a:ahLst/>
            <a:cxnLst/>
            <a:rect l="l" t="t" r="r" b="b"/>
            <a:pathLst>
              <a:path w="7483171" h="8134337">
                <a:moveTo>
                  <a:pt x="0" y="0"/>
                </a:moveTo>
                <a:lnTo>
                  <a:pt x="7483170" y="0"/>
                </a:lnTo>
                <a:lnTo>
                  <a:pt x="7483170" y="8134337"/>
                </a:lnTo>
                <a:lnTo>
                  <a:pt x="0" y="81343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109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904060" y="276225"/>
            <a:ext cx="7072639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PRINCIPAIS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782259" y="1442187"/>
            <a:ext cx="6799106" cy="1680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 algn="just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Métodos com lógica condicional extensa</a:t>
            </a:r>
          </a:p>
          <a:p>
            <a:pPr marL="496567" lvl="1" indent="-248284" algn="just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Nomes e responsabilidades pouco explícitos</a:t>
            </a:r>
          </a:p>
          <a:p>
            <a:pPr marL="496567" lvl="1" indent="-248284" algn="just">
              <a:lnSpc>
                <a:spcPts val="4599"/>
              </a:lnSpc>
              <a:buFont typeface="Arial"/>
              <a:buChar char="•"/>
            </a:pPr>
            <a:r>
              <a:rPr lang="en-US" sz="22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Coesão de classe e acoplamento elevado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53563" y="9454362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82063" y="276225"/>
            <a:ext cx="9818518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PROBLEMAS ENCONTRADOS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4867" y="9700349"/>
            <a:ext cx="7091363" cy="389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>
                <a:solidFill>
                  <a:srgbClr val="34343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Antes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65068" y="9274022"/>
            <a:ext cx="7091363" cy="389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>
                <a:solidFill>
                  <a:srgbClr val="34343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Depois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DB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9699" y="-4879709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69" y="0"/>
                </a:lnTo>
                <a:lnTo>
                  <a:pt x="19258069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3352162" y="1419985"/>
            <a:ext cx="4132897" cy="6143495"/>
          </a:xfrm>
          <a:custGeom>
            <a:avLst/>
            <a:gdLst/>
            <a:ahLst/>
            <a:cxnLst/>
            <a:rect l="l" t="t" r="r" b="b"/>
            <a:pathLst>
              <a:path w="4132897" h="6143495">
                <a:moveTo>
                  <a:pt x="0" y="0"/>
                </a:moveTo>
                <a:lnTo>
                  <a:pt x="4132897" y="0"/>
                </a:lnTo>
                <a:lnTo>
                  <a:pt x="4132897" y="6143496"/>
                </a:lnTo>
                <a:lnTo>
                  <a:pt x="0" y="6143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11391593" y="2856018"/>
            <a:ext cx="3102858" cy="5004610"/>
          </a:xfrm>
          <a:custGeom>
            <a:avLst/>
            <a:gdLst/>
            <a:ahLst/>
            <a:cxnLst/>
            <a:rect l="l" t="t" r="r" b="b"/>
            <a:pathLst>
              <a:path w="3102858" h="5004610">
                <a:moveTo>
                  <a:pt x="0" y="0"/>
                </a:moveTo>
                <a:lnTo>
                  <a:pt x="3102858" y="0"/>
                </a:lnTo>
                <a:lnTo>
                  <a:pt x="3102858" y="5004610"/>
                </a:lnTo>
                <a:lnTo>
                  <a:pt x="0" y="5004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1452851" y="1124710"/>
            <a:ext cx="7072639" cy="2276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SOLUÇÕES IMPLEMENTADAS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759558"/>
            <a:ext cx="8612008" cy="452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just">
              <a:lnSpc>
                <a:spcPts val="519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Transformação para arquitetura orientada a objetos.</a:t>
            </a:r>
          </a:p>
          <a:p>
            <a:pPr marL="561336" lvl="1" indent="-280668" algn="just">
              <a:lnSpc>
                <a:spcPts val="519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Strategy para separar comportamentos</a:t>
            </a:r>
          </a:p>
          <a:p>
            <a:pPr algn="just">
              <a:lnSpc>
                <a:spcPts val="5199"/>
              </a:lnSpc>
            </a:pPr>
            <a:r>
              <a:rPr lang="en-US" sz="25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     (NormalItemStrategy para itens comuns) e Factory           para criar regras</a:t>
            </a:r>
          </a:p>
          <a:p>
            <a:pPr marL="561336" lvl="1" indent="-280668" algn="just">
              <a:lnSpc>
                <a:spcPts val="519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Classes pequenas e responsáveis, eliminando repetições.</a:t>
            </a:r>
          </a:p>
          <a:p>
            <a:pPr marL="561336" lvl="1" indent="-280668" algn="just">
              <a:lnSpc>
                <a:spcPts val="519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JUnit para verificar se tudo funciona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DB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10123" y="-3993968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69" y="0"/>
                </a:lnTo>
                <a:lnTo>
                  <a:pt x="19258069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 rot="-1440699">
            <a:off x="12922012" y="167852"/>
            <a:ext cx="3059086" cy="1941129"/>
          </a:xfrm>
          <a:custGeom>
            <a:avLst/>
            <a:gdLst/>
            <a:ahLst/>
            <a:cxnLst/>
            <a:rect l="l" t="t" r="r" b="b"/>
            <a:pathLst>
              <a:path w="3059086" h="1941129">
                <a:moveTo>
                  <a:pt x="0" y="0"/>
                </a:moveTo>
                <a:lnTo>
                  <a:pt x="3059086" y="0"/>
                </a:lnTo>
                <a:lnTo>
                  <a:pt x="3059086" y="1941129"/>
                </a:lnTo>
                <a:lnTo>
                  <a:pt x="0" y="1941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 rot="-506387">
            <a:off x="9908960" y="3155588"/>
            <a:ext cx="3160926" cy="3408842"/>
          </a:xfrm>
          <a:custGeom>
            <a:avLst/>
            <a:gdLst/>
            <a:ahLst/>
            <a:cxnLst/>
            <a:rect l="l" t="t" r="r" b="b"/>
            <a:pathLst>
              <a:path w="3160926" h="3408842">
                <a:moveTo>
                  <a:pt x="0" y="0"/>
                </a:moveTo>
                <a:lnTo>
                  <a:pt x="3160926" y="0"/>
                </a:lnTo>
                <a:lnTo>
                  <a:pt x="3160926" y="3408842"/>
                </a:lnTo>
                <a:lnTo>
                  <a:pt x="0" y="34088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 rot="1175061">
            <a:off x="15698740" y="4285875"/>
            <a:ext cx="1593550" cy="4114800"/>
          </a:xfrm>
          <a:custGeom>
            <a:avLst/>
            <a:gdLst/>
            <a:ahLst/>
            <a:cxnLst/>
            <a:rect l="l" t="t" r="r" b="b"/>
            <a:pathLst>
              <a:path w="1593550" h="4114800">
                <a:moveTo>
                  <a:pt x="0" y="0"/>
                </a:moveTo>
                <a:lnTo>
                  <a:pt x="1593550" y="0"/>
                </a:lnTo>
                <a:lnTo>
                  <a:pt x="15935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14803371" y="2227313"/>
            <a:ext cx="3132454" cy="1429538"/>
          </a:xfrm>
          <a:custGeom>
            <a:avLst/>
            <a:gdLst/>
            <a:ahLst/>
            <a:cxnLst/>
            <a:rect l="l" t="t" r="r" b="b"/>
            <a:pathLst>
              <a:path w="3132454" h="1429538">
                <a:moveTo>
                  <a:pt x="0" y="0"/>
                </a:moveTo>
                <a:lnTo>
                  <a:pt x="3132453" y="0"/>
                </a:lnTo>
                <a:lnTo>
                  <a:pt x="3132453" y="1429538"/>
                </a:lnTo>
                <a:lnTo>
                  <a:pt x="0" y="14295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12484832" y="6343275"/>
            <a:ext cx="1567733" cy="1567733"/>
          </a:xfrm>
          <a:custGeom>
            <a:avLst/>
            <a:gdLst/>
            <a:ahLst/>
            <a:cxnLst/>
            <a:rect l="l" t="t" r="r" b="b"/>
            <a:pathLst>
              <a:path w="1567733" h="1567733">
                <a:moveTo>
                  <a:pt x="0" y="0"/>
                </a:moveTo>
                <a:lnTo>
                  <a:pt x="1567733" y="0"/>
                </a:lnTo>
                <a:lnTo>
                  <a:pt x="1567733" y="1567733"/>
                </a:lnTo>
                <a:lnTo>
                  <a:pt x="0" y="156773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889368" y="1140904"/>
            <a:ext cx="8254632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TRABALHO EM GRUPO 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7411" y="4350009"/>
            <a:ext cx="8911637" cy="3815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6" lvl="1" indent="-237488" algn="just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Divisão de responsabilidades facilitou a evolução do código.</a:t>
            </a:r>
          </a:p>
          <a:p>
            <a:pPr marL="474976" lvl="1" indent="-237488" algn="just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Análise conjunta dos code smells e decisões de refatoração.</a:t>
            </a:r>
          </a:p>
          <a:p>
            <a:pPr marL="474976" lvl="1" indent="-237488" algn="just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Aprendizado prático sobre Git, organização de commits e versionamento real.</a:t>
            </a:r>
          </a:p>
          <a:p>
            <a:pPr marL="474976" lvl="1" indent="-237488" algn="just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Ajustes em conjunto após erros nos primeiros testes unitários.</a:t>
            </a:r>
          </a:p>
          <a:p>
            <a:pPr marL="474976" lvl="1" indent="-237488" algn="just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Git para rastrear alterações, permitindo voltar versões e trabalhar simultaneamente sem conflitos.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189607"/>
            <a:ext cx="7072639" cy="120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EXPERIÊNCIA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DB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2400" y="-952500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0609913" y="7435367"/>
            <a:ext cx="1139089" cy="1139089"/>
          </a:xfrm>
          <a:custGeom>
            <a:avLst/>
            <a:gdLst/>
            <a:ahLst/>
            <a:cxnLst/>
            <a:rect l="l" t="t" r="r" b="b"/>
            <a:pathLst>
              <a:path w="1139089" h="1139089">
                <a:moveTo>
                  <a:pt x="0" y="0"/>
                </a:moveTo>
                <a:lnTo>
                  <a:pt x="1139088" y="0"/>
                </a:lnTo>
                <a:lnTo>
                  <a:pt x="1139088" y="1139089"/>
                </a:lnTo>
                <a:lnTo>
                  <a:pt x="0" y="11390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15289607" y="4013413"/>
            <a:ext cx="1466824" cy="1293472"/>
          </a:xfrm>
          <a:custGeom>
            <a:avLst/>
            <a:gdLst/>
            <a:ahLst/>
            <a:cxnLst/>
            <a:rect l="l" t="t" r="r" b="b"/>
            <a:pathLst>
              <a:path w="1466824" h="1293472">
                <a:moveTo>
                  <a:pt x="0" y="0"/>
                </a:moveTo>
                <a:lnTo>
                  <a:pt x="1466824" y="0"/>
                </a:lnTo>
                <a:lnTo>
                  <a:pt x="1466824" y="1293472"/>
                </a:lnTo>
                <a:lnTo>
                  <a:pt x="0" y="12934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0365992" y="3658228"/>
            <a:ext cx="6646520" cy="4916227"/>
          </a:xfrm>
          <a:custGeom>
            <a:avLst/>
            <a:gdLst/>
            <a:ahLst/>
            <a:cxnLst/>
            <a:rect l="l" t="t" r="r" b="b"/>
            <a:pathLst>
              <a:path w="6646520" h="4916227">
                <a:moveTo>
                  <a:pt x="0" y="0"/>
                </a:moveTo>
                <a:lnTo>
                  <a:pt x="6646520" y="0"/>
                </a:lnTo>
                <a:lnTo>
                  <a:pt x="6646520" y="4916228"/>
                </a:lnTo>
                <a:lnTo>
                  <a:pt x="0" y="49162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1525657" y="989608"/>
            <a:ext cx="7072639" cy="2276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IMPORTÂNCIA DO CLEAN CODE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5834" y="3663948"/>
            <a:ext cx="9121950" cy="5594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just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Clean Code torna o código mais legível, modular e sustentável.</a:t>
            </a:r>
          </a:p>
          <a:p>
            <a:pPr marL="539746" lvl="1" indent="-269873" algn="just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Facilita a manutenção, reduz bugs e evita acúmulo de débito técnico.</a:t>
            </a:r>
          </a:p>
          <a:p>
            <a:pPr marL="539746" lvl="1" indent="-269873" algn="just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No Gilded Rose, Clean Code transformou um código complexo e rígido em uma solução testável, extensível e profissional.</a:t>
            </a:r>
          </a:p>
          <a:p>
            <a:pPr marL="539746" lvl="1" indent="-269873" algn="just">
              <a:lnSpc>
                <a:spcPts val="4999"/>
              </a:lnSpc>
              <a:buFont typeface="Arial"/>
              <a:buChar char="•"/>
            </a:pPr>
            <a:r>
              <a:rPr lang="en-US" sz="2499" b="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Essencial para equipes, projetos reais e desenvolvimento de longo prazo.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 dirty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245</Words>
  <Application>Microsoft Office PowerPoint</Application>
  <PresentationFormat>Personalizar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4" baseType="lpstr">
      <vt:lpstr>Open Sans Bold</vt:lpstr>
      <vt:lpstr>Cooper Hewitt</vt:lpstr>
      <vt:lpstr>DM Sans</vt:lpstr>
      <vt:lpstr>DM Sans Bold</vt:lpstr>
      <vt:lpstr>Calibri</vt:lpstr>
      <vt:lpstr>Arial</vt:lpstr>
      <vt:lpstr>Cooper Hewitt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</dc:title>
  <cp:lastModifiedBy>maria eduarda medeiro porto</cp:lastModifiedBy>
  <cp:revision>1</cp:revision>
  <dcterms:created xsi:type="dcterms:W3CDTF">2006-08-16T00:00:00Z</dcterms:created>
  <dcterms:modified xsi:type="dcterms:W3CDTF">2025-11-26T23:11:15Z</dcterms:modified>
  <dc:identifier>DAG5Ef4RwJc</dc:identifier>
</cp:coreProperties>
</file>